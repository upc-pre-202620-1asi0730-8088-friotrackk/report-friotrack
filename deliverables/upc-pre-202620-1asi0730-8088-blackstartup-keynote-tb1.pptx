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ca350d3d-7faa-7a82-d096-f58dad6c6be0}">
          <p14:sldIdLst>
            <p14:sldId id="256"/>
            <p14:sldId id="257"/>
            <p14:sldId id="258"/>
          </p14:sldIdLst>
        </p14:section>
        <p14:section name="Contexto e investigación" id="{7b348cf0-fd7b-d9dc-ec66-06b0cbf356d3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Requisitos y diseño" id="{c71ab96a-1c81-ca07-03b0-b58330401156}">
          <p14:sldIdLst>
            <p14:sldId id="265"/>
            <p14:sldId id="266"/>
            <p14:sldId id="267"/>
          </p14:sldIdLst>
        </p14:section>
        <p14:section name="Sprint 2" id="{b3bb5187-8885-245c-f66a-891325737e14}">
          <p14:sldIdLst>
            <p14:sldId id="268"/>
            <p14:sldId id="269"/>
            <p14:sldId id="270"/>
            <p14:sldId id="271"/>
          </p14:sldIdLst>
        </p14:section>
        <p14:section name="Cierre" id="{7a744370-afff-20fc-f6c1-c1430eef28bd}">
          <p14:sldIdLst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+mn-lt"/>
              </a:rPr>
              <a:t>Estado de las 19 tareas del Sprint 2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Tareas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6C36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0B5ED7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5A524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64748B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E63946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Verificado</c:v>
                </c:pt>
                <c:pt idx="1">
                  <c:v>Implementado, en revisión</c:v>
                </c:pt>
                <c:pt idx="2">
                  <c:v>Parcial</c:v>
                </c:pt>
                <c:pt idx="3">
                  <c:v>Integrado en informe</c:v>
                </c:pt>
                <c:pt idx="4">
                  <c:v>Pendiente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8</c:v>
                </c:pt>
                <c:pt idx="1">
                  <c:v>2</c:v>
                </c:pt>
                <c:pt idx="2">
                  <c:v>6</c:v>
                </c:pt>
                <c:pt idx="3">
                  <c:v>1</c:v>
                </c:pt>
                <c:pt idx="4">
                  <c:v>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41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172A"/>
                </a:solidFill>
                <a:latin typeface="+mn-lt"/>
              </a:rPr>
              <a:t>Commits del informe en develop (07–08/10/2026)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Commits del informe (sin merges)</c:v>
                </c:pt>
              </c:strCache>
            </c:strRef>
          </c:tx>
          <c:spPr>
            <a:solidFill>
              <a:srgbClr val="0B5ED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Rodrigo</c:v>
                  </c:pt>
                  <c:pt idx="1">
                    <c:v>Alexander</c:v>
                  </c:pt>
                  <c:pt idx="2">
                    <c:v>Joaquín</c:v>
                  </c:pt>
                  <c:pt idx="3">
                    <c:v>Nayely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</c:v>
                </c:pt>
                <c:pt idx="1">
                  <c:v>10</c:v>
                </c:pt>
                <c:pt idx="2">
                  <c:v>8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Alexander (0:00–0:15). Saludo, nombre de la startup, del producto y de la entrega. Luego pasa a la diapositiva del equipo para que cada integrante se presente ante cámara.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Presentan todos (0:15–1:00). Cada integrante dice su nombre completo, su carrera y qué parte del trabajo explicará. Unos 12 a 15 segundos por persona, mirando a cámara.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Alexander (1:00–1:45). Resume en una frase cada entregable de la TB1 y deja claro que hoy se muestra el producto publicado, no solo el diseño.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Alexander (1:45–3:00). Método 5W + 2H del informe. Cifras: puesto 61 de 139 (Banco Mundial, 2023) y más de 12 millones de toneladas (FAO, 2026). Evita afirmar cifras que no estén en el informe.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Alexander (3:00–4:15). Problem statement único (Brand new initiative) y los cuatro criterios de éxito definidos en Lean UX. Aclara que son metas de negocio a validar, no resultados ya medidos.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Alexander (4:15–5:30). Los supuestos aún no están validados con usuarios; por eso en la conclusión recomendamos validar con transportistas y clientes de carga.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Alexander (5:30–6:30). Estos dos perfiles son los que usa el producto implementado. Pasa la palabra a Joaquín para explicar cómo se investigó a los usuarios.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Joaquín (6:30–8:15). Tres competidores, análisis SWOT y tácticas del informe (sección 2.1). Menciona que los precios de competidores son referenciales del análisis.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Joaquín (8:15–11:00). Entrevistas: Jari Hassan, Farit, Irma Barreto, Santiago Silva Jara y Carlos Astudillo; personas Javier Mendoza y Rosa Huamán. Sé transparente: el informe reconoce que las entrevistas exploraron distribución, bodegas y tiendas, y que el producto se acotó a transporte refrigerado.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Nayely (11:00–14:00). Capítulo III: épicas EP01–EP07, historias de usuario con criterios de aceptación en Gherkin, Impact Mapping y Product Backlog. Explica por qué la autenticación no va primero.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Rodrigo (14:00–15:30). Guía de estilo, arquitectura de información, wireframes, mock-ups, wireflows y user flows. Muestra la paleta y explica que los colores de estado nunca dependen solo del color (llevan texto e ícono).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Rodrigo (15:30–17:00). Event Storming de nivel de diseño, contextos core (envíos y monitoreo), diagramas C4, clases y base de datos. Distingue siempre lo implementado de lo diseñado.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Nayely (17:00–20:00). Sprint Goal, 75 SP de 20 historias, y el estado real de las 19 tareas: 8 verificadas, 2 implementadas con revisión abierta, 6 parciales, 1 integrada en el informe y 2 pendientes. Indica que faltan las actas y la velocidad aceptada.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Rodrigo (20:00–22:00). Durante el video, haz la demostración en vivo sobre la URL publicada: contraseña incorrecta, login de coordinador, programación de un envío, registro de acción correctiva, login de cliente y cierre de sesión. Las contraseñas no se muestran en pantalla.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Rodrigo (22:00–23:30). Explica los seis endpoints implementados, que la API es de apoyo y persiste en un archivo JSON privado, y que Swagger del backend final sigue pendiente. No lo presentes como implementado.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Rodrigo (23:30–25:00). Publicación del 08/10/2026 a las 21:35 (hora de Lima). Los 34 archivos coinciden con los hashes locales. Aclara que no hay sensores físicos ni GPS reales conectados.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Joaquín (25:00–27:00). Repositorios en la organización de GitHub del equipo, GitFlow, Conventional Commits y Semantic Versioning. Relaciona con las dos dimensiones del Student Outcome 5: liderazgo conjunto y entorno colaborativo con metas y tareas cumplidas.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Alexander (27:00–28:30). Cierra con lo logrado y lo pendiente, sin exagerar. Agradece y menciona dónde están los enlaces del informe, el repositorio y los videos.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FríoTrack · BlackStartup · TB1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FríoTrack · BlackStartup · TB1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600200"/>
            <a:ext cx="42062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tile"/>
          <p:cNvSpPr/>
          <p:nvPr/>
        </p:nvSpPr>
        <p:spPr>
          <a:xfrm>
            <a:off x="457200" y="640080"/>
            <a:ext cx="64008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</p:spPr>
      </p:sp>
      <p:pic>
        <p:nvPicPr>
          <p:cNvPr id="3" name="Image 0" descr="Ícono de copo de nieve de FríoTra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777240"/>
            <a:ext cx="365760" cy="365760"/>
          </a:xfrm>
          <a:prstGeom prst="rect">
            <a:avLst/>
          </a:prstGeom>
        </p:spPr>
      </p:pic>
      <p:sp>
        <p:nvSpPr>
          <p:cNvPr id="4" name="Brand name"/>
          <p:cNvSpPr txBox="1"/>
          <p:nvPr/>
        </p:nvSpPr>
        <p:spPr>
          <a:xfrm>
            <a:off x="1234440" y="640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FríoTrack</a:t>
            </a:r>
            <a:endParaRPr lang="en-US" sz="3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16002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Trabajo Final · TB1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651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EAD4"/>
                </a:solidFill>
              </a:rPr>
              <a:t>Stage Review · Aplicaciones Web (1ASI0730)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3832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BD5E1"/>
                </a:solidFill>
              </a:rPr>
              <a:t>BlackStartup · NRC 8088 · Ciclo 2026-20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BD5E1"/>
                </a:solidFill>
              </a:rPr>
              <a:t>Docente: Bautista Ubillús, Efraín Ricardo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BD5E1"/>
                </a:solidFill>
              </a:rPr>
              <a:t>Universidad Peruana de Ciencias Aplicadas · Ingeniería de Software</a:t>
            </a:r>
            <a:endParaRPr lang="en-US" sz="1400" dirty="0"/>
          </a:p>
        </p:txBody>
      </p:sp>
      <p:pic>
        <p:nvPicPr>
          <p:cNvPr id="8" name="Image 1" descr="Landing page de FríoTrack publicada en Azur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92040" y="868680"/>
            <a:ext cx="3794760" cy="213603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pic>
      <p:pic>
        <p:nvPicPr>
          <p:cNvPr id="9" name="Image 2" descr="Panel del Coordinador Logístico en FríoTra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788920"/>
            <a:ext cx="3154680" cy="1773936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Equipo BlackStartup</a:t>
            </a:r>
            <a:endParaRPr lang="en-US" sz="2800" dirty="0"/>
          </a:p>
        </p:txBody>
      </p:sp>
      <p:sp>
        <p:nvSpPr>
          <p:cNvPr id="3" name="Card Alexander Atauje"/>
          <p:cNvSpPr/>
          <p:nvPr/>
        </p:nvSpPr>
        <p:spPr>
          <a:xfrm>
            <a:off x="457200" y="1188720"/>
            <a:ext cx="1920240" cy="333756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4" name="Image 0" descr="Foto de Alexander Sebastián Atauje Barre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71600"/>
            <a:ext cx="1097280" cy="1097280"/>
          </a:xfrm>
          <a:prstGeom prst="ellipse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603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Alexander Sebastián Atauje Barreto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Ingeniería de Software · u20241f246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6118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Team Leader · Introducción, Lean UX e integración del informe</a:t>
            </a:r>
            <a:endParaRPr lang="en-US" sz="1100" dirty="0"/>
          </a:p>
        </p:txBody>
      </p:sp>
      <p:sp>
        <p:nvSpPr>
          <p:cNvPr id="8" name="Card Joaquín Daga"/>
          <p:cNvSpPr/>
          <p:nvPr/>
        </p:nvSpPr>
        <p:spPr>
          <a:xfrm>
            <a:off x="2560320" y="1188720"/>
            <a:ext cx="1920240" cy="333756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9" name="Image 1" descr="Foto de Joaquín Leonardo Daga Chávez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371600"/>
            <a:ext cx="1097280" cy="1097280"/>
          </a:xfrm>
          <a:prstGeom prst="ellipse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651760" y="25603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Joaquín Leonardo Daga Chávez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265176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Ingeniería de Software · u202219829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2651760" y="36118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Investigación (Cap. II), Git y documentación</a:t>
            </a:r>
            <a:endParaRPr lang="en-US" sz="1100" dirty="0"/>
          </a:p>
        </p:txBody>
      </p:sp>
      <p:sp>
        <p:nvSpPr>
          <p:cNvPr id="13" name="Card Nayely Vera"/>
          <p:cNvSpPr/>
          <p:nvPr/>
        </p:nvSpPr>
        <p:spPr>
          <a:xfrm>
            <a:off x="4663440" y="1188720"/>
            <a:ext cx="1920240" cy="333756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14" name="Image 2" descr="Foto de Nayely Macarena Vera Solso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371600"/>
            <a:ext cx="1097280" cy="1097280"/>
          </a:xfrm>
          <a:prstGeom prst="ellipse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754880" y="25603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Nayely Macarena Vera Solsol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475488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Ingeniería de Software · u20231H17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4754880" y="36118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Requisitos (Cap. III), backlog y Sprint Planning</a:t>
            </a:r>
            <a:endParaRPr lang="en-US" sz="1100" dirty="0"/>
          </a:p>
        </p:txBody>
      </p:sp>
      <p:sp>
        <p:nvSpPr>
          <p:cNvPr id="18" name="Card Rodrigo Saavedra"/>
          <p:cNvSpPr/>
          <p:nvPr/>
        </p:nvSpPr>
        <p:spPr>
          <a:xfrm>
            <a:off x="6766560" y="1188720"/>
            <a:ext cx="1920240" cy="333756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19" name="Image 3" descr="Foto de Rodrigo Andree Saavedra Flor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371600"/>
            <a:ext cx="1097280" cy="1097280"/>
          </a:xfrm>
          <a:prstGeom prst="ellipse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58000" y="25603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Rodrigo Andree Saavedra Flores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685800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Ingeniería de Software · u20241D811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0" y="36118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Diseño UX/UI, API, pruebas y despliegue en Azure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Qué entregamos en la TB1</a:t>
            </a:r>
            <a:endParaRPr lang="en-US" sz="2800" dirty="0"/>
          </a:p>
        </p:txBody>
      </p:sp>
      <p:sp>
        <p:nvSpPr>
          <p:cNvPr id="3" name="Entregable 1"/>
          <p:cNvSpPr/>
          <p:nvPr/>
        </p:nvSpPr>
        <p:spPr>
          <a:xfrm>
            <a:off x="457200" y="1234440"/>
            <a:ext cx="265176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4" name="Image 0" descr="Informe consolid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1371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Informe consolidado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9202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Capítulos I a V, con artefactos corregidos y mejorados desde la AV1</a:t>
            </a:r>
            <a:endParaRPr lang="en-US" sz="1200" dirty="0"/>
          </a:p>
        </p:txBody>
      </p:sp>
      <p:sp>
        <p:nvSpPr>
          <p:cNvPr id="7" name="Entregable 2"/>
          <p:cNvSpPr/>
          <p:nvPr/>
        </p:nvSpPr>
        <p:spPr>
          <a:xfrm>
            <a:off x="3291840" y="1234440"/>
            <a:ext cx="265176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8" name="Image 1" descr="Landing actualizad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417320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931920" y="1371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Landing actualizada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3474720" y="19202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Publicada en Azure; cada llamado a la acción lleva al acceso de su perfil</a:t>
            </a:r>
            <a:endParaRPr lang="en-US" sz="1200" dirty="0"/>
          </a:p>
        </p:txBody>
      </p:sp>
      <p:sp>
        <p:nvSpPr>
          <p:cNvPr id="11" name="Entregable 3"/>
          <p:cNvSpPr/>
          <p:nvPr/>
        </p:nvSpPr>
        <p:spPr>
          <a:xfrm>
            <a:off x="6126480" y="1234440"/>
            <a:ext cx="265176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12" name="Image 2" descr="Primera Web Applic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1732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766560" y="1371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Primera Web Application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309360" y="19202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Vue 3 + PrimeVue con acceso por rol, en español e inglés</a:t>
            </a:r>
            <a:endParaRPr lang="en-US" sz="1200" dirty="0"/>
          </a:p>
        </p:txBody>
      </p:sp>
      <p:sp>
        <p:nvSpPr>
          <p:cNvPr id="15" name="Entregable 4"/>
          <p:cNvSpPr/>
          <p:nvPr/>
        </p:nvSpPr>
        <p:spPr>
          <a:xfrm>
            <a:off x="457200" y="2926080"/>
            <a:ext cx="265176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16" name="Image 3" descr="API ASP.NET Co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08960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97280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API ASP.NET Core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3611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Autenticación y autorización en servidor, publicada en Azure App Service</a:t>
            </a:r>
            <a:endParaRPr lang="en-US" sz="1200" dirty="0"/>
          </a:p>
        </p:txBody>
      </p:sp>
      <p:sp>
        <p:nvSpPr>
          <p:cNvPr id="19" name="Entregable 5"/>
          <p:cNvSpPr/>
          <p:nvPr/>
        </p:nvSpPr>
        <p:spPr>
          <a:xfrm>
            <a:off x="3291840" y="2926080"/>
            <a:ext cx="265176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20" name="Image 4" descr="Sprint 2 documentad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108960"/>
            <a:ext cx="347472" cy="34747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3931920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Sprint 2 documentado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3474720" y="3611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Planning, backlog, evidencias de desarrollo, ejecución, servicios y despliegue</a:t>
            </a:r>
            <a:endParaRPr lang="en-US" sz="1200" dirty="0"/>
          </a:p>
        </p:txBody>
      </p:sp>
      <p:sp>
        <p:nvSpPr>
          <p:cNvPr id="23" name="Entregable 6"/>
          <p:cNvSpPr/>
          <p:nvPr/>
        </p:nvSpPr>
        <p:spPr>
          <a:xfrm>
            <a:off x="6126480" y="2926080"/>
            <a:ext cx="265176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24" name="Image 5" descr="Keynote y video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108960"/>
            <a:ext cx="347472" cy="34747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766560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Keynote y videos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6309360" y="3611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Keynote, video de exposición y reporte de participación del líder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Problema: cadena de frío sin visibilidad</a:t>
            </a:r>
            <a:endParaRPr lang="en-US" sz="2800" dirty="0"/>
          </a:p>
        </p:txBody>
      </p:sp>
      <p:sp>
        <p:nvSpPr>
          <p:cNvPr id="3" name="Stat 1"/>
          <p:cNvSpPr/>
          <p:nvPr/>
        </p:nvSpPr>
        <p:spPr>
          <a:xfrm>
            <a:off x="457200" y="1234440"/>
            <a:ext cx="26517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61 / 139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402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puesto del Perú en el Índice de Desempeño Logístico (Banco Mundial, 2023)</a:t>
            </a:r>
            <a:endParaRPr lang="en-US" sz="1300" dirty="0"/>
          </a:p>
        </p:txBody>
      </p:sp>
      <p:sp>
        <p:nvSpPr>
          <p:cNvPr id="6" name="Stat 2"/>
          <p:cNvSpPr/>
          <p:nvPr/>
        </p:nvSpPr>
        <p:spPr>
          <a:xfrm>
            <a:off x="3291840" y="1234440"/>
            <a:ext cx="26517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42900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&gt; 12 M t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2402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de alimentos se pierden en la cadena productiva peruana (FAO, 2026)</a:t>
            </a:r>
            <a:endParaRPr lang="en-US" sz="1300" dirty="0"/>
          </a:p>
        </p:txBody>
      </p:sp>
      <p:sp>
        <p:nvSpPr>
          <p:cNvPr id="9" name="Stat 3"/>
          <p:cNvSpPr/>
          <p:nvPr/>
        </p:nvSpPr>
        <p:spPr>
          <a:xfrm>
            <a:off x="6126480" y="1234440"/>
            <a:ext cx="26517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6364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2402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corredores prioritarios: La Libertad, Ica, Piura y Lambayeque hacia Lima y el Callao</a:t>
            </a:r>
            <a:endParaRPr lang="en-US" sz="1300" dirty="0"/>
          </a:p>
        </p:txBody>
      </p:sp>
      <p:sp>
        <p:nvSpPr>
          <p:cNvPr id="12" name="Banda problema"/>
          <p:cNvSpPr/>
          <p:nvPr/>
        </p:nvSpPr>
        <p:spPr>
          <a:xfrm>
            <a:off x="457200" y="3611880"/>
            <a:ext cx="8229600" cy="91440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657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Hoy se usan termómetros manuales o data loggers sin conexión. El fallo se descubre al descargar, cuando el daño ya es irreversible y no hay evidencia para deslindar responsabilidades.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FríoTrack: monitoreo, alertas y trazabilidad</a:t>
            </a:r>
            <a:endParaRPr lang="en-US" sz="2800" dirty="0"/>
          </a:p>
        </p:txBody>
      </p:sp>
      <p:sp>
        <p:nvSpPr>
          <p:cNvPr id="3" name="Icon circle 1"/>
          <p:cNvSpPr/>
          <p:nvPr/>
        </p:nvSpPr>
        <p:spPr>
          <a:xfrm>
            <a:off x="457200" y="1188720"/>
            <a:ext cx="420624" cy="420624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mage 0" descr="Lecturas de temperatura y humedad por enví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37744" cy="2377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118872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Lecturas de temperatura y humedad por envío</a:t>
            </a:r>
            <a:endParaRPr lang="en-US" sz="1400" dirty="0"/>
          </a:p>
        </p:txBody>
      </p:sp>
      <p:sp>
        <p:nvSpPr>
          <p:cNvPr id="6" name="Icon circle 2"/>
          <p:cNvSpPr/>
          <p:nvPr/>
        </p:nvSpPr>
        <p:spPr>
          <a:xfrm>
            <a:off x="457200" y="1755648"/>
            <a:ext cx="420624" cy="420624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1" descr="Alertas ante desvíos y registro de acción correctiv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47088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05840" y="175564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Alertas ante desvíos y registro de acción correctiva</a:t>
            </a:r>
            <a:endParaRPr lang="en-US" sz="1400" dirty="0"/>
          </a:p>
        </p:txBody>
      </p:sp>
      <p:sp>
        <p:nvSpPr>
          <p:cNvPr id="9" name="Icon circle 3"/>
          <p:cNvSpPr/>
          <p:nvPr/>
        </p:nvSpPr>
        <p:spPr>
          <a:xfrm>
            <a:off x="457200" y="2322576"/>
            <a:ext cx="420624" cy="420624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2" descr="Ruta y posición sobre mapa (OpenStreetMap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14016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05840" y="232257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Ruta y posición sobre mapa (OpenStreetMap)</a:t>
            </a:r>
            <a:endParaRPr lang="en-US" sz="1400" dirty="0"/>
          </a:p>
        </p:txBody>
      </p:sp>
      <p:sp>
        <p:nvSpPr>
          <p:cNvPr id="12" name="Icon circle 4"/>
          <p:cNvSpPr/>
          <p:nvPr/>
        </p:nvSpPr>
        <p:spPr>
          <a:xfrm>
            <a:off x="457200" y="2889504"/>
            <a:ext cx="420624" cy="420624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3" descr="Historial y reporte térmico para auditoría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980944"/>
            <a:ext cx="237744" cy="23774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05840" y="288950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Historial y reporte térmico para auditorías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457200" y="3566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Criterios de éxito (Lean UX)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457200" y="38587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150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usuarios en 8 meses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2468880" y="38587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&gt; 75 %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retención desde mes 3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457200" y="424281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&gt; 40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NPS en 3 meses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2468880" y="424281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−30 %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desvíos no detectados</a:t>
            </a:r>
            <a:endParaRPr lang="en-US" sz="1400" dirty="0"/>
          </a:p>
        </p:txBody>
      </p:sp>
      <p:pic>
        <p:nvPicPr>
          <p:cNvPr id="20" name="Image 4" descr="Landing publicada: Your perishable cargo, watched over every kilomet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188720"/>
            <a:ext cx="4114800" cy="2313432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pic>
      <p:sp>
        <p:nvSpPr>
          <p:cNvPr id="21" name="Text 14"/>
          <p:cNvSpPr txBox="1"/>
          <p:nvPr/>
        </p:nvSpPr>
        <p:spPr>
          <a:xfrm>
            <a:off x="4572000" y="3566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Landing publicada en Azure · español e inglés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Lean UX: de supuestos a hipótesis</a:t>
            </a:r>
            <a:endParaRPr lang="en-US" sz="2800" dirty="0"/>
          </a:p>
        </p:txBody>
      </p:sp>
      <p:sp>
        <p:nvSpPr>
          <p:cNvPr id="3" name="Paso 1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887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Problem Statement único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813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Plantilla Brand new initiative para todo el proyecto</a:t>
            </a:r>
            <a:endParaRPr lang="en-US" sz="1200" dirty="0"/>
          </a:p>
        </p:txBody>
      </p:sp>
      <p:sp>
        <p:nvSpPr>
          <p:cNvPr id="7" name="Paso 2"/>
          <p:cNvSpPr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0116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27 assumptions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304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5 tipos: negocio, resultado de negocio, usuario, beneficio y features</a:t>
            </a:r>
            <a:endParaRPr lang="en-US" sz="1200" dirty="0"/>
          </a:p>
        </p:txBody>
      </p:sp>
      <p:sp>
        <p:nvSpPr>
          <p:cNvPr id="11" name="Paso 3"/>
          <p:cNvSpPr/>
          <p:nvPr/>
        </p:nvSpPr>
        <p:spPr>
          <a:xfrm>
            <a:off x="457200" y="2880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8346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7 hypothesis statements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1272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Uno por cada feature assumption</a:t>
            </a:r>
            <a:endParaRPr lang="en-US" sz="1200" dirty="0"/>
          </a:p>
        </p:txBody>
      </p:sp>
      <p:sp>
        <p:nvSpPr>
          <p:cNvPr id="15" name="Paso 4"/>
          <p:cNvSpPr/>
          <p:nvPr/>
        </p:nvSpPr>
        <p:spPr>
          <a:xfrm>
            <a:off x="457200" y="3703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6576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Lean UX Canvas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9502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Síntesis colaborativa en Miro</a:t>
            </a:r>
            <a:endParaRPr lang="en-US" sz="1200" dirty="0"/>
          </a:p>
        </p:txBody>
      </p:sp>
      <p:pic>
        <p:nvPicPr>
          <p:cNvPr id="19" name="Image 0" descr="Lean UX Canvas de FríoTra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325880"/>
            <a:ext cx="4297680" cy="207568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pic>
      <p:sp>
        <p:nvSpPr>
          <p:cNvPr id="20" name="Text 17"/>
          <p:cNvSpPr txBox="1"/>
          <p:nvPr/>
        </p:nvSpPr>
        <p:spPr>
          <a:xfrm>
            <a:off x="4389120" y="34747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Lean UX Canvas de FríoTrack (Miro)</a:t>
            </a:r>
            <a:endParaRPr lang="en-US" sz="1000" dirty="0"/>
          </a:p>
        </p:txBody>
      </p:sp>
      <p:sp>
        <p:nvSpPr>
          <p:cNvPr id="21" name="Ejemplo hipótesis"/>
          <p:cNvSpPr/>
          <p:nvPr/>
        </p:nvSpPr>
        <p:spPr>
          <a:xfrm>
            <a:off x="4389120" y="3840480"/>
            <a:ext cx="429768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526280" y="385876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Si el coordinador logístico ve lecturas casi en tiempo real, entonces sube la adopción activa.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Dos perfiles dentro de la aplicación</a:t>
            </a:r>
            <a:endParaRPr lang="en-US" sz="2800" dirty="0"/>
          </a:p>
        </p:txBody>
      </p:sp>
      <p:sp>
        <p:nvSpPr>
          <p:cNvPr id="3" name="Perfil 1"/>
          <p:cNvSpPr/>
          <p:nvPr/>
        </p:nvSpPr>
        <p:spPr>
          <a:xfrm>
            <a:off x="45720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4" name="Círculo perfil 1"/>
          <p:cNvSpPr/>
          <p:nvPr/>
        </p:nvSpPr>
        <p:spPr>
          <a:xfrm>
            <a:off x="685800" y="13716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Coordinador Logístic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5361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Coordinador Logístico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737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Segmento 1 · Empresas de transporte refrigerado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37744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Programa envíos con rango térmico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Administra unidades y conductores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Atiende alertas y registra acciones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977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Rango de edad de decisión: 28 a 55 años</a:t>
            </a:r>
            <a:endParaRPr lang="en-US" sz="1100" dirty="0"/>
          </a:p>
        </p:txBody>
      </p:sp>
      <p:sp>
        <p:nvSpPr>
          <p:cNvPr id="10" name="Perfil 2"/>
          <p:cNvSpPr/>
          <p:nvPr/>
        </p:nvSpPr>
        <p:spPr>
          <a:xfrm>
            <a:off x="466344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1" name="Círculo perfil 2"/>
          <p:cNvSpPr/>
          <p:nvPr/>
        </p:nvSpPr>
        <p:spPr>
          <a:xfrm>
            <a:off x="4892040" y="13716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1" descr="Cliente de Carg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153619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66928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Cliente de Carga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5669280" y="1737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Segmento 2 · Productores, exportadores y compradores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937760" y="237744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Consulta solo sus envíos asignados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Revisa lecturas, alertas e historial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Descarga el reporte como evidencia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937760" y="3977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Rango de edad de decisión: 28 a 60 años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Competidores y diferenciación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92024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Aspecto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FríoTrack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Óptima ERP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Sinapsys WMS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Tive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D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Enfoque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Monitoreo térmico y trazabilidad de perecibles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ERP para pymes con facturación SUNAT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Gestión de almacenes (picking, despacho)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Sensores IoT de temperatura y GPS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Precio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Suscripción según funciones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Desde ~S/ 89 al mes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Implementación con costo adicional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Suscripción por sensor + hardware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Brecha que aprovechamos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5ED7"/>
                          </a:solidFill>
                        </a:rPr>
                        <a:t>Especialización en cadena de frío para pymes peruanas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No tiene módulo especializado de temperatura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Más complejo y costoso para pequeñas empresas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Enfoque empresarial y dependencia de hardware propio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Tácticas: periodo de prueba gratuito, importación desde Excel, compatibilidad con sensores IoT del mercado y soporte en español.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Entrevistas y needfinding: hallazgos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874520" y="1188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entrevistas en video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019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9019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personas con journey y empathy map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1518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S/ 30–50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61518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al mes que pagaría un negocio pequeño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337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Necesidades recurrentes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61188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Visibilidad en tiempo real de temperatura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Alertas automáticas ante variaciones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Herramienta simple y de costo accesible</a:t>
            </a:r>
            <a:endParaRPr lang="en-US" sz="1300" dirty="0"/>
          </a:p>
        </p:txBody>
      </p:sp>
      <p:pic>
        <p:nvPicPr>
          <p:cNvPr id="11" name="Image 0" descr="Big Picture EventStorming de FríoTra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188720"/>
            <a:ext cx="4206240" cy="2871216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pic>
      <p:sp>
        <p:nvSpPr>
          <p:cNvPr id="12" name="Text 9"/>
          <p:cNvSpPr txBox="1"/>
          <p:nvPr/>
        </p:nvSpPr>
        <p:spPr>
          <a:xfrm>
            <a:off x="4480560" y="409651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Big Picture EventStorming</a:t>
            </a:r>
            <a:endParaRPr lang="en-US" sz="1000" dirty="0"/>
          </a:p>
        </p:txBody>
      </p:sp>
      <p:sp>
        <p:nvSpPr>
          <p:cNvPr id="13" name="Aviso alcance entrevistas"/>
          <p:cNvSpPr/>
          <p:nvPr/>
        </p:nvSpPr>
        <p:spPr>
          <a:xfrm>
            <a:off x="4480560" y="434340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0" y="4343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</a:rPr>
              <a:t>Corrección TB1: las entrevistas cubren distribución e inventario; falta validar con transportistas.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Requisitos: 7 épicas y 43 ítems priorizados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EP01 Panel de monitoreo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EP02 Alertas automatizadas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EP03 Historial e informes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EP04 Flota y conductores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EP05 Autenticación y usuarios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EP06 Landing Page y captación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EP07 API y servicios transversales</a:t>
            </a:r>
            <a:endParaRPr lang="en-US" sz="1300" dirty="0"/>
          </a:p>
        </p:txBody>
      </p:sp>
      <p:sp>
        <p:nvSpPr>
          <p:cNvPr id="4" name="Regla de orden"/>
          <p:cNvSpPr/>
          <p:nvPr/>
        </p:nvSpPr>
        <p:spPr>
          <a:xfrm>
            <a:off x="457200" y="3611880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3630168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El orden del backlog lo define el valor para el negocio: monitoreo y alertas primero, autenticación después. Los criterios de aceptación usan Gherkin.</a:t>
            </a:r>
            <a:endParaRPr lang="en-US" sz="1200" dirty="0"/>
          </a:p>
        </p:txBody>
      </p:sp>
      <p:pic>
        <p:nvPicPr>
          <p:cNvPr id="6" name="Image 0" descr="Product Backlog de FríoTrack en Trel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188720"/>
            <a:ext cx="4023360" cy="18288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4663440" y="30632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Product Backlog en Trello (tablero público)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34290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Story Points: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escala 1 / 2 / 3 / 5 / 8. Incluye historias de usuario, Technical Stories para el Developer (TS01–TS07) y historias de la Landing desde el primer sprint.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Diseño coherente en landing y aplicación</a:t>
            </a:r>
            <a:endParaRPr lang="en-US" sz="2800" dirty="0"/>
          </a:p>
        </p:txBody>
      </p:sp>
      <p:sp>
        <p:nvSpPr>
          <p:cNvPr id="3" name="Swatch Primary Blue"/>
          <p:cNvSpPr/>
          <p:nvPr/>
        </p:nvSpPr>
        <p:spPr>
          <a:xfrm>
            <a:off x="457200" y="1188720"/>
            <a:ext cx="822960" cy="777240"/>
          </a:xfrm>
          <a:prstGeom prst="roundRect">
            <a:avLst>
              <a:gd name="adj" fmla="val 9412"/>
            </a:avLst>
          </a:prstGeom>
          <a:solidFill>
            <a:srgbClr val="0B5ED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8229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Primary Blue</a:t>
            </a:r>
            <a:endParaRPr lang="en-US" sz="1000" dirty="0"/>
          </a:p>
        </p:txBody>
      </p:sp>
      <p:sp>
        <p:nvSpPr>
          <p:cNvPr id="5" name="Swatch Cold Teal"/>
          <p:cNvSpPr/>
          <p:nvPr/>
        </p:nvSpPr>
        <p:spPr>
          <a:xfrm>
            <a:off x="1371600" y="1188720"/>
            <a:ext cx="822960" cy="777240"/>
          </a:xfrm>
          <a:prstGeom prst="roundRect">
            <a:avLst>
              <a:gd name="adj" fmla="val 9412"/>
            </a:avLst>
          </a:prstGeom>
          <a:solidFill>
            <a:srgbClr val="00B4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71600" y="1188720"/>
            <a:ext cx="8229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Cold Teal</a:t>
            </a:r>
            <a:endParaRPr lang="en-US" sz="1000" dirty="0"/>
          </a:p>
        </p:txBody>
      </p:sp>
      <p:sp>
        <p:nvSpPr>
          <p:cNvPr id="7" name="Swatch Ink"/>
          <p:cNvSpPr/>
          <p:nvPr/>
        </p:nvSpPr>
        <p:spPr>
          <a:xfrm>
            <a:off x="2286000" y="1188720"/>
            <a:ext cx="822960" cy="777240"/>
          </a:xfrm>
          <a:prstGeom prst="roundRect">
            <a:avLst>
              <a:gd name="adj" fmla="val 9412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286000" y="1188720"/>
            <a:ext cx="8229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Ink</a:t>
            </a:r>
            <a:endParaRPr lang="en-US" sz="1000" dirty="0"/>
          </a:p>
        </p:txBody>
      </p:sp>
      <p:sp>
        <p:nvSpPr>
          <p:cNvPr id="9" name="Swatch En rango"/>
          <p:cNvSpPr/>
          <p:nvPr/>
        </p:nvSpPr>
        <p:spPr>
          <a:xfrm>
            <a:off x="3200400" y="1188720"/>
            <a:ext cx="822960" cy="777240"/>
          </a:xfrm>
          <a:prstGeom prst="roundRect">
            <a:avLst>
              <a:gd name="adj" fmla="val 9412"/>
            </a:avLst>
          </a:prstGeom>
          <a:solidFill>
            <a:srgbClr val="146C3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00400" y="1188720"/>
            <a:ext cx="8229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 rango</a:t>
            </a:r>
            <a:endParaRPr lang="en-US" sz="1000" dirty="0"/>
          </a:p>
        </p:txBody>
      </p:sp>
      <p:sp>
        <p:nvSpPr>
          <p:cNvPr id="11" name="Swatch Advertencia"/>
          <p:cNvSpPr/>
          <p:nvPr/>
        </p:nvSpPr>
        <p:spPr>
          <a:xfrm>
            <a:off x="457200" y="2057400"/>
            <a:ext cx="822960" cy="777240"/>
          </a:xfrm>
          <a:prstGeom prst="roundRect">
            <a:avLst>
              <a:gd name="adj" fmla="val 9412"/>
            </a:avLst>
          </a:prstGeom>
          <a:solidFill>
            <a:srgbClr val="F5A5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057400"/>
            <a:ext cx="8229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Advertencia</a:t>
            </a:r>
            <a:endParaRPr lang="en-US" sz="1000" dirty="0"/>
          </a:p>
        </p:txBody>
      </p:sp>
      <p:sp>
        <p:nvSpPr>
          <p:cNvPr id="13" name="Swatch Crítico"/>
          <p:cNvSpPr/>
          <p:nvPr/>
        </p:nvSpPr>
        <p:spPr>
          <a:xfrm>
            <a:off x="1371600" y="2057400"/>
            <a:ext cx="822960" cy="777240"/>
          </a:xfrm>
          <a:prstGeom prst="roundRect">
            <a:avLst>
              <a:gd name="adj" fmla="val 9412"/>
            </a:avLst>
          </a:prstGeom>
          <a:solidFill>
            <a:srgbClr val="E6394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71600" y="2057400"/>
            <a:ext cx="8229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Crítico</a:t>
            </a:r>
            <a:endParaRPr lang="en-US" sz="1000" dirty="0"/>
          </a:p>
        </p:txBody>
      </p:sp>
      <p:sp>
        <p:nvSpPr>
          <p:cNvPr id="15" name="Swatch Sin señal"/>
          <p:cNvSpPr/>
          <p:nvPr/>
        </p:nvSpPr>
        <p:spPr>
          <a:xfrm>
            <a:off x="2286000" y="2057400"/>
            <a:ext cx="822960" cy="777240"/>
          </a:xfrm>
          <a:prstGeom prst="roundRect">
            <a:avLst>
              <a:gd name="adj" fmla="val 9412"/>
            </a:avLst>
          </a:prstGeom>
          <a:solidFill>
            <a:srgbClr val="64748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286000" y="2057400"/>
            <a:ext cx="8229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Sin señal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017520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Material Design y PrimeVue como base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Español e inglés (i18n) y atributos ARIA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Wireframes, mock-ups y wireflows por objetivo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Prototipo en Figma para escritorio y móvil</a:t>
            </a:r>
            <a:endParaRPr lang="en-US" sz="1300" dirty="0"/>
          </a:p>
        </p:txBody>
      </p:sp>
      <p:pic>
        <p:nvPicPr>
          <p:cNvPr id="18" name="Image 0" descr="Mock-up del panel de operaciones con mapa de enví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188720"/>
            <a:ext cx="4160520" cy="2596896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pic>
      <p:sp>
        <p:nvSpPr>
          <p:cNvPr id="19" name="Text 16"/>
          <p:cNvSpPr txBox="1"/>
          <p:nvPr/>
        </p:nvSpPr>
        <p:spPr>
          <a:xfrm>
            <a:off x="4526280" y="384048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Mock-up del panel de operaciones (Figma)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Arquitectura DDD: 5 bounded contexts</a:t>
            </a:r>
            <a:endParaRPr lang="en-US" sz="2800" dirty="0"/>
          </a:p>
        </p:txBody>
      </p:sp>
      <p:sp>
        <p:nvSpPr>
          <p:cNvPr id="3" name="BC Shipment Management"/>
          <p:cNvSpPr/>
          <p:nvPr/>
        </p:nvSpPr>
        <p:spPr>
          <a:xfrm>
            <a:off x="457200" y="1188720"/>
            <a:ext cx="356616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Shipment Management</a:t>
            </a:r>
            <a:endParaRPr lang="en-US" sz="1300" dirty="0"/>
          </a:p>
        </p:txBody>
      </p:sp>
      <p:sp>
        <p:nvSpPr>
          <p:cNvPr id="5" name="Etiqueta Shipment Management"/>
          <p:cNvSpPr/>
          <p:nvPr/>
        </p:nvSpPr>
        <p:spPr>
          <a:xfrm>
            <a:off x="3017520" y="1280160"/>
            <a:ext cx="8686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017520" y="12801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Core</a:t>
            </a:r>
            <a:endParaRPr lang="en-US" sz="1000" dirty="0"/>
          </a:p>
        </p:txBody>
      </p:sp>
      <p:sp>
        <p:nvSpPr>
          <p:cNvPr id="7" name="BC Monitoring &amp; Telemetry"/>
          <p:cNvSpPr/>
          <p:nvPr/>
        </p:nvSpPr>
        <p:spPr>
          <a:xfrm>
            <a:off x="457200" y="1737360"/>
            <a:ext cx="356616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737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Monitoring &amp; Telemetry</a:t>
            </a:r>
            <a:endParaRPr lang="en-US" sz="1300" dirty="0"/>
          </a:p>
        </p:txBody>
      </p:sp>
      <p:sp>
        <p:nvSpPr>
          <p:cNvPr id="9" name="Etiqueta Monitoring &amp; Telemetry"/>
          <p:cNvSpPr/>
          <p:nvPr/>
        </p:nvSpPr>
        <p:spPr>
          <a:xfrm>
            <a:off x="3017520" y="1828800"/>
            <a:ext cx="8686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017520" y="18288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Core</a:t>
            </a:r>
            <a:endParaRPr lang="en-US" sz="1000" dirty="0"/>
          </a:p>
        </p:txBody>
      </p:sp>
      <p:sp>
        <p:nvSpPr>
          <p:cNvPr id="11" name="BC Fleet &amp; Resource Management"/>
          <p:cNvSpPr/>
          <p:nvPr/>
        </p:nvSpPr>
        <p:spPr>
          <a:xfrm>
            <a:off x="457200" y="2286000"/>
            <a:ext cx="356616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Fleet &amp; Resource Management</a:t>
            </a:r>
            <a:endParaRPr lang="en-US" sz="1300" dirty="0"/>
          </a:p>
        </p:txBody>
      </p:sp>
      <p:sp>
        <p:nvSpPr>
          <p:cNvPr id="13" name="Etiqueta Fleet &amp; Resource Management"/>
          <p:cNvSpPr/>
          <p:nvPr/>
        </p:nvSpPr>
        <p:spPr>
          <a:xfrm>
            <a:off x="3017520" y="2377440"/>
            <a:ext cx="86868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017520" y="23774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Apoyo</a:t>
            </a:r>
            <a:endParaRPr lang="en-US" sz="1000" dirty="0"/>
          </a:p>
        </p:txBody>
      </p:sp>
      <p:sp>
        <p:nvSpPr>
          <p:cNvPr id="15" name="BC Alert &amp; Reporting"/>
          <p:cNvSpPr/>
          <p:nvPr/>
        </p:nvSpPr>
        <p:spPr>
          <a:xfrm>
            <a:off x="457200" y="2834640"/>
            <a:ext cx="356616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Alert &amp; Reporting</a:t>
            </a:r>
            <a:endParaRPr lang="en-US" sz="1300" dirty="0"/>
          </a:p>
        </p:txBody>
      </p:sp>
      <p:sp>
        <p:nvSpPr>
          <p:cNvPr id="17" name="Etiqueta Alert &amp; Reporting"/>
          <p:cNvSpPr/>
          <p:nvPr/>
        </p:nvSpPr>
        <p:spPr>
          <a:xfrm>
            <a:off x="3017520" y="2926080"/>
            <a:ext cx="86868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017520" y="29260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Apoyo</a:t>
            </a:r>
            <a:endParaRPr lang="en-US" sz="1000" dirty="0"/>
          </a:p>
        </p:txBody>
      </p:sp>
      <p:sp>
        <p:nvSpPr>
          <p:cNvPr id="19" name="BC IAM"/>
          <p:cNvSpPr/>
          <p:nvPr/>
        </p:nvSpPr>
        <p:spPr>
          <a:xfrm>
            <a:off x="457200" y="3383280"/>
            <a:ext cx="356616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383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IAM</a:t>
            </a:r>
            <a:endParaRPr lang="en-US" sz="1300" dirty="0"/>
          </a:p>
        </p:txBody>
      </p:sp>
      <p:sp>
        <p:nvSpPr>
          <p:cNvPr id="21" name="Etiqueta IAM"/>
          <p:cNvSpPr/>
          <p:nvPr/>
        </p:nvSpPr>
        <p:spPr>
          <a:xfrm>
            <a:off x="3017520" y="3474720"/>
            <a:ext cx="868680" cy="2743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017520" y="34747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Genérico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9776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</a:rPr>
              <a:t>Implementado en TB1: SPA Vue + API ASP.NET Core con persistencia en archivo JSON. Diseño objetivo: EF Core y PostgreSQL.</a:t>
            </a:r>
            <a:endParaRPr lang="en-US" sz="1100" dirty="0"/>
          </a:p>
        </p:txBody>
      </p:sp>
      <p:pic>
        <p:nvPicPr>
          <p:cNvPr id="24" name="Image 0" descr="Diagrama de contenedores C4 de FríoTra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1188720"/>
            <a:ext cx="4434840" cy="2706624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pic>
      <p:sp>
        <p:nvSpPr>
          <p:cNvPr id="25" name="Text 22"/>
          <p:cNvSpPr txBox="1"/>
          <p:nvPr/>
        </p:nvSpPr>
        <p:spPr>
          <a:xfrm>
            <a:off x="4251960" y="3950208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Diagrama de contenedores (C4, nivel 2)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Sprint 2: primera aplicación en Azure</a:t>
            </a:r>
            <a:endParaRPr lang="en-US" sz="2800" dirty="0"/>
          </a:p>
        </p:txBody>
      </p:sp>
      <p:sp>
        <p:nvSpPr>
          <p:cNvPr id="3" name="Sprint Goal"/>
          <p:cNvSpPr/>
          <p:nvPr/>
        </p:nvSpPr>
        <p:spPr>
          <a:xfrm>
            <a:off x="457200" y="1188720"/>
            <a:ext cx="4023360" cy="1783080"/>
          </a:xfrm>
          <a:prstGeom prst="roundRect">
            <a:avLst>
              <a:gd name="adj" fmla="val 5128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SPRINT GOAL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72768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Que el Coordinador Logístico gestione envíos refrigerados y acciones correctivas, y que el Cliente de Carga consulte solo sus envíos con acceso autenticado y bilingüe.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0040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75 SP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en 20 historias relacionadas. No son puntos aceptados ni velocidad del equipo.</a:t>
            </a:r>
            <a:endParaRPr lang="en-US" sz="2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663440" y="1097280"/>
          <a:ext cx="40233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Demostración: acceso por rol en Azure</a:t>
            </a:r>
            <a:endParaRPr lang="en-US" sz="2800" dirty="0"/>
          </a:p>
        </p:txBody>
      </p:sp>
      <p:pic>
        <p:nvPicPr>
          <p:cNvPr id="3" name="Image 0" descr="1 · Inicio de sesión con correo y contraseñ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2651760" cy="2221992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34564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1 · Inicio de sesión con correo y contraseña</a:t>
            </a:r>
            <a:endParaRPr lang="en-US" sz="1100" dirty="0"/>
          </a:p>
        </p:txBody>
      </p:sp>
      <p:pic>
        <p:nvPicPr>
          <p:cNvPr id="5" name="Image 1" descr="2 · Coordinador: panel con 4 envíos y acci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88720"/>
            <a:ext cx="2651760" cy="2221992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3291840" y="34564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2 · Coordinador: panel con 4 envíos y acciones</a:t>
            </a:r>
            <a:endParaRPr lang="en-US" sz="1100" dirty="0"/>
          </a:p>
        </p:txBody>
      </p:sp>
      <p:pic>
        <p:nvPicPr>
          <p:cNvPr id="7" name="Image 2" descr="3 · Cliente: 3 envíos asignados, sin menú de flot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88720"/>
            <a:ext cx="2651760" cy="2221992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pic>
      <p:sp>
        <p:nvSpPr>
          <p:cNvPr id="8" name="Text 3"/>
          <p:cNvSpPr txBox="1"/>
          <p:nvPr/>
        </p:nvSpPr>
        <p:spPr>
          <a:xfrm>
            <a:off x="6126480" y="34564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3 · Cliente: 3 envíos asignados, sin menú de flota</a:t>
            </a:r>
            <a:endParaRPr lang="en-US" sz="1100" dirty="0"/>
          </a:p>
        </p:txBody>
      </p:sp>
      <p:sp>
        <p:nvSpPr>
          <p:cNvPr id="9" name="Banda permisos"/>
          <p:cNvSpPr/>
          <p:nvPr/>
        </p:nvSpPr>
        <p:spPr>
          <a:xfrm>
            <a:off x="457200" y="3977640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594360" y="397764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Servidor: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sin sesión responde 401; un comando de coordinación desde una cuenta cliente responde 403; el rol no viene del enlace.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API ASP.NET Core: seguridad en servidor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1206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1737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Acción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Método y ruta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Respuestas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D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Estado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/api/health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200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Iniciar sesión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/api/auth/login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200 · 401 · 429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Registrar cliente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/api/auth/register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200 · 400 · 403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Datos autorizados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/api/workspace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200 · 401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Comandos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/api/commands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200 · 400 · 401 · 403 · 404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Cerrar sesión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/api/auth/logout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204 · 401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eguridad"/>
          <p:cNvSpPr/>
          <p:nvPr/>
        </p:nvSpPr>
        <p:spPr>
          <a:xfrm>
            <a:off x="5806440" y="1188720"/>
            <a:ext cx="2880360" cy="2880360"/>
          </a:xfrm>
          <a:prstGeom prst="roundRect">
            <a:avLst>
              <a:gd name="adj" fmla="val 317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5" name="Image 0" descr="Cand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325880"/>
            <a:ext cx="292608" cy="2926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00800" y="12984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Seguridad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5989320" y="178308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Token opaco de 8 horas (no es JWT)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PBKDF2-SHA256 con 210 000 iteraciones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Registro público solo crea Cliente de Carga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Cierre de sesión revoca el token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</a:rPr>
              <a:t>Pendiente: documentación OpenAPI/Swagger del backend final (TS07). La tabla es documentación manual del contrato.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Pruebas y despliegue verificados en Azure</a:t>
            </a:r>
            <a:endParaRPr lang="en-US" sz="2800" dirty="0"/>
          </a:p>
        </p:txBody>
      </p:sp>
      <p:sp>
        <p:nvSpPr>
          <p:cNvPr id="3" name="Métrica 1"/>
          <p:cNvSpPr/>
          <p:nvPr/>
        </p:nvSpPr>
        <p:spPr>
          <a:xfrm>
            <a:off x="457200" y="1188720"/>
            <a:ext cx="19202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94360" y="126187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15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011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pruebas de dominio del frontend</a:t>
            </a:r>
            <a:endParaRPr lang="en-US" sz="1200" dirty="0"/>
          </a:p>
        </p:txBody>
      </p:sp>
      <p:sp>
        <p:nvSpPr>
          <p:cNvPr id="6" name="Métrica 2"/>
          <p:cNvSpPr/>
          <p:nvPr/>
        </p:nvSpPr>
        <p:spPr>
          <a:xfrm>
            <a:off x="2542032" y="1188720"/>
            <a:ext cx="19202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679192" y="126187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26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679192" y="2011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comprobaciones de la API (local)</a:t>
            </a:r>
            <a:endParaRPr lang="en-US" sz="1200" dirty="0"/>
          </a:p>
        </p:txBody>
      </p:sp>
      <p:sp>
        <p:nvSpPr>
          <p:cNvPr id="9" name="Métrica 3"/>
          <p:cNvSpPr/>
          <p:nvPr/>
        </p:nvSpPr>
        <p:spPr>
          <a:xfrm>
            <a:off x="4626864" y="1188720"/>
            <a:ext cx="19202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764024" y="126187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764024" y="2011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comprobaciones HTTPS del servicio publicado</a:t>
            </a:r>
            <a:endParaRPr lang="en-US" sz="1200" dirty="0"/>
          </a:p>
        </p:txBody>
      </p:sp>
      <p:sp>
        <p:nvSpPr>
          <p:cNvPr id="12" name="Métrica 4"/>
          <p:cNvSpPr/>
          <p:nvPr/>
        </p:nvSpPr>
        <p:spPr>
          <a:xfrm>
            <a:off x="6711696" y="1188720"/>
            <a:ext cx="19202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48856" y="126187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34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848856" y="2011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archivos publicados con SHA-256 coincidente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0175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334155"/>
                </a:solidFill>
              </a:rPr>
              <a:t>Landing: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friotracktb1bce6db1b.z22.web.core.windows.net/landing/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334155"/>
                </a:solidFill>
              </a:rPr>
              <a:t>Aplicación: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friotracktb1bce6db1b.z22.web.core.windows.net/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334155"/>
                </a:solidFill>
              </a:rPr>
              <a:t>API: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friotrack-api-bce6db1b.azurewebsites.net/api/health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577840" y="301752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Azure Storage (hosting estático) y App Service con .NET 10, plan gratuito F1, región West US. Las suites local y publicada son distintas y no se suman. Datos de lectura y ubicación son de prueba.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206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</a:rPr>
              <a:t>El plan F1 puede tardar en responder tras un periodo sin uso.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Colaboración y Student Outcome 5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4805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690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Los commits dan trazabilidad, no una calificación: la evaluación individual la asigna el Team Leader.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21208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Cómo trabajamos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212080" y="155448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GitFlow: ramas develop y main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Conventional Commits en inglés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Semantic Versioning: informe v2.0.0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Liderazgo compartido por especialidad: investigación, requisitos, diseño y despliegue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Cada integrante expone y defiende su parte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Conclusiones y próximos pasos</a:t>
            </a:r>
            <a:endParaRPr lang="en-US" sz="2800" dirty="0"/>
          </a:p>
        </p:txBody>
      </p:sp>
      <p:sp>
        <p:nvSpPr>
          <p:cNvPr id="3" name="Logrado"/>
          <p:cNvSpPr/>
          <p:nvPr/>
        </p:nvSpPr>
        <p:spPr>
          <a:xfrm>
            <a:off x="45720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1E293B"/>
          </a:solidFill>
          <a:ln/>
        </p:spPr>
      </p:sp>
      <p:pic>
        <p:nvPicPr>
          <p:cNvPr id="4" name="Image 0" descr="Logr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441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167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Lo logrado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78308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</a:rPr>
              <a:t>Landing y primera aplicación publicadas en Azure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</a:rPr>
              <a:t>Acceso por rol con autorización en servidor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</a:rPr>
              <a:t>Informe consolidado con trazabilidad de commits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</a:rPr>
              <a:t>Pruebas y comparación de archivos reproducibles</a:t>
            </a:r>
            <a:endParaRPr lang="en-US" sz="1400" dirty="0"/>
          </a:p>
        </p:txBody>
      </p:sp>
      <p:sp>
        <p:nvSpPr>
          <p:cNvPr id="7" name="Pendiente"/>
          <p:cNvSpPr/>
          <p:nvPr/>
        </p:nvSpPr>
        <p:spPr>
          <a:xfrm>
            <a:off x="466344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1E293B"/>
          </a:solidFill>
          <a:ln/>
        </p:spPr>
      </p:sp>
      <p:pic>
        <p:nvPicPr>
          <p:cNvPr id="8" name="Image 1" descr="Siguientes pas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44168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257800" y="13167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Siguientes pasos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4846320" y="178308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</a:rPr>
              <a:t>Persistencia relacional: EF Core y PostgreSQL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</a:rPr>
              <a:t>OpenAPI/Swagger y recepción de sensores reales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</a:rPr>
              <a:t>Validar con transportistas y clientes de carga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</a:rPr>
              <a:t>Receptor del formulario comercial y actas del sprint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ioTrack">
  <a:themeElements>
    <a:clrScheme name="FrioTrack">
      <a:dk1>
        <a:srgbClr val="0F172A"/>
      </a:dk1>
      <a:lt1>
        <a:srgbClr val="FFFFFF"/>
      </a:lt1>
      <a:dk2>
        <a:srgbClr val="084BAE"/>
      </a:dk2>
      <a:lt2>
        <a:srgbClr val="F1F5F9"/>
      </a:lt2>
      <a:accent1>
        <a:srgbClr val="0B5ED7"/>
      </a:accent1>
      <a:accent2>
        <a:srgbClr val="00B4A6"/>
      </a:accent2>
      <a:accent3>
        <a:srgbClr val="F5A524"/>
      </a:accent3>
      <a:accent4>
        <a:srgbClr val="E63946"/>
      </a:accent4>
      <a:accent5>
        <a:srgbClr val="146C36"/>
      </a:accent5>
      <a:accent6>
        <a:srgbClr val="64748B"/>
      </a:accent6>
      <a:hlink>
        <a:srgbClr val="0B5ED7"/>
      </a:hlink>
      <a:folHlink>
        <a:srgbClr val="64748B"/>
      </a:folHlink>
    </a:clrScheme>
    <a:fontScheme name="FrioTrac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UPC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FríoTrack · Informe de Trabajo Final TB1</dc:title>
  <dc:subject>PptxGenJS Presentation</dc:subject>
  <dc:creator>BlackStartup</dc:creator>
  <cp:lastModifiedBy>BlackStartup</cp:lastModifiedBy>
  <cp:revision>1</cp:revision>
  <dcterms:created xsi:type="dcterms:W3CDTF">2026-10-09T05:16:21Z</dcterms:created>
  <dcterms:modified xsi:type="dcterms:W3CDTF">2026-10-09T05:16:21Z</dcterms:modified>
</cp:coreProperties>
</file>